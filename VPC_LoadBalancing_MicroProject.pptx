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GADEVI P" initials="DP" lastIdx="1" clrIdx="0">
    <p:extLst>
      <p:ext uri="{19B8F6BF-5375-455C-9EA6-DF929625EA0E}">
        <p15:presenceInfo xmlns:p15="http://schemas.microsoft.com/office/powerpoint/2012/main" userId="a774cb891f9ec0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56" autoAdjust="0"/>
    <p:restoredTop sz="93978"/>
  </p:normalViewPr>
  <p:slideViewPr>
    <p:cSldViewPr showGuides="1">
      <p:cViewPr varScale="1">
        <p:scale>
          <a:sx n="109" d="100"/>
          <a:sy n="109" d="100"/>
        </p:scale>
        <p:origin x="904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0BD52C-1488-4859-A254-A4C4FAE88D7C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06/04/2026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en-GB" altLang="x-none" sz="1200" dirty="0"/>
              <a:t>‹#›</a:t>
            </a:fld>
            <a:endParaRPr lang="en-GB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4/6/26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6" descr="A close up of a logo  AI-generated content may be incorrect., Pictur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86200" y="115888"/>
            <a:ext cx="5113338" cy="9128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7137-8B12-723D-6746-674E1607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6800"/>
            <a:ext cx="7886700" cy="1066800"/>
          </a:xfrm>
        </p:spPr>
        <p:txBody>
          <a:bodyPr anchor="ctr">
            <a:normAutofit/>
          </a:bodyPr>
          <a:lstStyle/>
          <a:p>
            <a:r>
              <a:rPr lang="en-US" b="1" dirty="0"/>
              <a:t>VPC and Load Balancing Mini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490B55-27D7-C306-81F0-71991D55F79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92369" y="2506662"/>
            <a:ext cx="38862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defTabSz="91440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IN" dirty="0"/>
              <a:t>Course Code: 6IT1284</a:t>
            </a:r>
            <a:endParaRPr lang="en-US" altLang="en-US" dirty="0"/>
          </a:p>
          <a:p>
            <a:pPr lvl="0" defTabSz="91440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/>
              <a:t>Course Name : </a:t>
            </a:r>
            <a:r>
              <a:rPr lang="en-IN" dirty="0"/>
              <a:t>Hybrid Cloud Architecture and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Faculty Name : Dr Durgadevi P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Team Number: 7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73D26F-FC8F-CCEE-4EBD-B92BE3D9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362200"/>
            <a:ext cx="4876800" cy="4351338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marL="0" indent="0" algn="ctr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100" dirty="0"/>
              <a:t> Manish – 2023BIFT07AED001</a:t>
            </a:r>
          </a:p>
          <a:p>
            <a:pPr algn="l"/>
            <a:r>
              <a:rPr lang="en-US" altLang="en-US" sz="2100" kern="1200" dirty="0"/>
              <a:t> Muskan Shrivastava – 2023BIFT07AED031</a:t>
            </a:r>
          </a:p>
          <a:p>
            <a:pPr algn="l"/>
            <a:r>
              <a:rPr lang="en-US" altLang="en-US" sz="2100" dirty="0"/>
              <a:t> Harshitha N – 2023BIFT07AED054</a:t>
            </a:r>
            <a:endParaRPr lang="en-US" altLang="en-US" sz="2100" kern="1200" dirty="0"/>
          </a:p>
        </p:txBody>
      </p:sp>
    </p:spTree>
    <p:extLst>
      <p:ext uri="{BB962C8B-B14F-4D97-AF65-F5344CB8AC3E}">
        <p14:creationId xmlns:p14="http://schemas.microsoft.com/office/powerpoint/2010/main" val="26685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032-9BFC-172B-7A95-791AE56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409950" cy="1325563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B94E-0E6A-FAFD-BBD9-12119701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</a:p>
          <a:p>
            <a:r>
              <a:rPr lang="en-GB" dirty="0"/>
              <a:t>This micro project demonstrates a mini cloud architecture using Virtual Private Cloud (VPC) and Load Balancing concepts — core pillars of hybrid cloud infrastructure design.</a:t>
            </a:r>
          </a:p>
          <a:p>
            <a:r>
              <a:rPr lang="en-GB" b="1" dirty="0"/>
              <a:t>Problem Statement</a:t>
            </a:r>
          </a:p>
          <a:p>
            <a:r>
              <a:rPr lang="en-GB" dirty="0"/>
              <a:t>Modern applications face traffic spikes, single points of failure, and poor network isolation — causing downtime and security vulnerabilities in cloud deployments.</a:t>
            </a:r>
          </a:p>
          <a:p>
            <a:r>
              <a:rPr lang="en-GB" b="1" dirty="0"/>
              <a:t>Why This Project Matters</a:t>
            </a:r>
          </a:p>
          <a:p>
            <a:r>
              <a:rPr lang="en-GB" dirty="0"/>
              <a:t>Understanding VPC and load balancing is essential for designing resilient, scalable, and secure hybrid cloud systems used across enterprises worldwide.</a:t>
            </a:r>
          </a:p>
        </p:txBody>
      </p:sp>
    </p:spTree>
    <p:extLst>
      <p:ext uri="{BB962C8B-B14F-4D97-AF65-F5344CB8AC3E}">
        <p14:creationId xmlns:p14="http://schemas.microsoft.com/office/powerpoint/2010/main" val="9074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8D00-E237-AF0E-9B42-DA7391CC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B396-81AA-3F60-4AB5-F1C76BCC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and simulate a VPC architecture with public and private subnets</a:t>
            </a:r>
          </a:p>
          <a:p>
            <a:r>
              <a:rPr lang="en-GB" dirty="0"/>
              <a:t>Implement a load balancer to distribute incoming traffic across multiple virtual servers</a:t>
            </a:r>
          </a:p>
          <a:p>
            <a:r>
              <a:rPr lang="en-GB" dirty="0"/>
              <a:t>Demonstrate network isolation using security groups and route tables</a:t>
            </a:r>
          </a:p>
          <a:p>
            <a:r>
              <a:rPr lang="en-GB" dirty="0"/>
              <a:t>Understand high availability and fault tolerance in cloud environments</a:t>
            </a:r>
          </a:p>
          <a:p>
            <a:r>
              <a:rPr lang="en-GB" dirty="0"/>
              <a:t>Apply hybrid cloud architecture principles covered in course 6IT1284</a:t>
            </a:r>
          </a:p>
        </p:txBody>
      </p:sp>
    </p:spTree>
    <p:extLst>
      <p:ext uri="{BB962C8B-B14F-4D97-AF65-F5344CB8AC3E}">
        <p14:creationId xmlns:p14="http://schemas.microsoft.com/office/powerpoint/2010/main" val="390350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DE6C-80D8-DDDF-6E33-074745D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105150" cy="1325563"/>
          </a:xfrm>
        </p:spPr>
        <p:txBody>
          <a:bodyPr/>
          <a:lstStyle/>
          <a:p>
            <a:r>
              <a:rPr lang="en-US" b="1" dirty="0"/>
              <a:t>Problem Statement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393E-4CA3-F312-4390-EFB87FA3F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Core Issue</a:t>
            </a:r>
          </a:p>
          <a:p>
            <a:r>
              <a:rPr lang="en-GB" dirty="0"/>
              <a:t>Traditional flat network deployments in the cloud expose all resources to the public internet, creating serious security and availability risks.</a:t>
            </a:r>
          </a:p>
          <a:p>
            <a:r>
              <a:rPr lang="en-GB" b="1" dirty="0"/>
              <a:t>Existing Challenges</a:t>
            </a:r>
          </a:p>
          <a:p>
            <a:r>
              <a:rPr lang="en-GB" dirty="0"/>
              <a:t>No network segmentation — backend servers exposed to external threats</a:t>
            </a:r>
          </a:p>
          <a:p>
            <a:r>
              <a:rPr lang="en-GB" dirty="0"/>
              <a:t>Single server handling all traffic — causes bottlenecks and crashes under load</a:t>
            </a:r>
          </a:p>
          <a:p>
            <a:r>
              <a:rPr lang="en-GB" dirty="0"/>
              <a:t>No fault tolerance — if one server fails, the entire application goes down</a:t>
            </a:r>
          </a:p>
          <a:p>
            <a:r>
              <a:rPr lang="en-GB" dirty="0"/>
              <a:t>Difficult to scale resources dynamically in response to demand</a:t>
            </a:r>
          </a:p>
        </p:txBody>
      </p:sp>
    </p:spTree>
    <p:extLst>
      <p:ext uri="{BB962C8B-B14F-4D97-AF65-F5344CB8AC3E}">
        <p14:creationId xmlns:p14="http://schemas.microsoft.com/office/powerpoint/2010/main" val="1976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D2D-F2E4-F2C4-E7B6-B1ADBEE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257550" cy="1325563"/>
          </a:xfrm>
        </p:spPr>
        <p:txBody>
          <a:bodyPr/>
          <a:lstStyle/>
          <a:p>
            <a:r>
              <a:rPr lang="en-US" b="1" dirty="0"/>
              <a:t>Proposed Solution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5BDC-0020-565F-88DA-A8A617FE8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Our Approach</a:t>
            </a:r>
          </a:p>
          <a:p>
            <a:r>
              <a:rPr lang="en-GB" dirty="0"/>
              <a:t>Design a mini VPC with two tiers: a public subnet (load balancer + NAT gateway) and a private subnet (application servers), enforcing strict network isolation.</a:t>
            </a:r>
          </a:p>
          <a:p>
            <a:r>
              <a:rPr lang="en-GB" b="1" dirty="0"/>
              <a:t>How It Solves the Problem</a:t>
            </a:r>
          </a:p>
          <a:p>
            <a:r>
              <a:rPr lang="en-GB" dirty="0"/>
              <a:t>Application Layer Load Balancer (ALB) sits in public subnet and distributes HTTP requests across 2 private EC2 instances using round-robin algorithm</a:t>
            </a:r>
          </a:p>
          <a:p>
            <a:r>
              <a:rPr lang="en-GB" dirty="0"/>
              <a:t>Security Groups restrict inbound traffic — only the ALB can reach the private app servers</a:t>
            </a:r>
          </a:p>
          <a:p>
            <a:r>
              <a:rPr lang="en-GB" dirty="0"/>
              <a:t>Health checks ensure traffic is only routed to healthy instances, enabling auto-failover</a:t>
            </a:r>
          </a:p>
        </p:txBody>
      </p:sp>
    </p:spTree>
    <p:extLst>
      <p:ext uri="{BB962C8B-B14F-4D97-AF65-F5344CB8AC3E}">
        <p14:creationId xmlns:p14="http://schemas.microsoft.com/office/powerpoint/2010/main" val="37908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1D0-2701-C1F0-0847-89EE3497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96"/>
            <a:ext cx="3181350" cy="1325563"/>
          </a:xfrm>
        </p:spPr>
        <p:txBody>
          <a:bodyPr/>
          <a:lstStyle/>
          <a:p>
            <a:r>
              <a:rPr lang="en-US" b="1" dirty="0"/>
              <a:t>Technologies Used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A0E3-3F69-3320-E409-1CCFB7A5C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Cloud Platform: Amazon Web Services (AWS) — VPC, EC2, ALB, Security Groups, Route Tables</a:t>
            </a:r>
          </a:p>
          <a:p>
            <a:r>
              <a:rPr lang="en-GB" dirty="0"/>
              <a:t>Tools: AWS Management Console, draw.io (architecture diagram), Wireshark (traffic inspection), PuTTY (SSH access)</a:t>
            </a:r>
          </a:p>
          <a:p>
            <a:r>
              <a:rPr lang="en-GB" dirty="0"/>
              <a:t>Scripting: Bash shell scripts for EC2 user-data (Apache web server setup on instances)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60E8-BED7-57A9-B5E0-7C0E0B4F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3943350" cy="1325563"/>
          </a:xfrm>
        </p:spPr>
        <p:txBody>
          <a:bodyPr/>
          <a:lstStyle/>
          <a:p>
            <a:r>
              <a:rPr lang="en-US" b="1" dirty="0"/>
              <a:t>System Architecture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15DD-99A7-51E5-FDE5-D3D4E9954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Architecture Overview</a:t>
            </a:r>
          </a:p>
          <a:p>
            <a:r>
              <a:rPr lang="en-GB" dirty="0"/>
              <a:t>Internet → Internet Gateway → Application Load Balancer (Public Subnet)</a:t>
            </a:r>
          </a:p>
          <a:p>
            <a:r>
              <a:rPr lang="en-GB" dirty="0"/>
              <a:t>ALB → Target Group → EC2 Instance A (Private Subnet AZ-1)</a:t>
            </a:r>
          </a:p>
          <a:p>
            <a:r>
              <a:rPr lang="en-GB" dirty="0"/>
              <a:t>ALB → Target Group → EC2 Instance B (Private Subnet AZ-2)</a:t>
            </a:r>
          </a:p>
          <a:p>
            <a:r>
              <a:rPr lang="en-GB" dirty="0"/>
              <a:t>EC2 Instances → NAT Gateway → Internet (for outbound only)</a:t>
            </a:r>
          </a:p>
          <a:p>
            <a:r>
              <a:rPr lang="en-GB" b="1" dirty="0"/>
              <a:t>Key Components</a:t>
            </a:r>
          </a:p>
          <a:p>
            <a:r>
              <a:rPr lang="en-GB" dirty="0"/>
              <a:t>VPC (CIDR: 10.0.0.0/16) | Public Subnet: 10.0.1.0/24 | Private Subnets: 10.0.2.0/24, 10.0.3.0/24 | Security Groups | Route Tables</a:t>
            </a:r>
          </a:p>
        </p:txBody>
      </p:sp>
    </p:spTree>
    <p:extLst>
      <p:ext uri="{BB962C8B-B14F-4D97-AF65-F5344CB8AC3E}">
        <p14:creationId xmlns:p14="http://schemas.microsoft.com/office/powerpoint/2010/main" val="628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70F8-27FB-4C7D-DF4B-84DFA74E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528" y="500062"/>
            <a:ext cx="3153472" cy="1325563"/>
          </a:xfrm>
        </p:spPr>
        <p:txBody>
          <a:bodyPr/>
          <a:lstStyle/>
          <a:p>
            <a:r>
              <a:rPr lang="en-US" b="1" dirty="0"/>
              <a:t>Methodology / Working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7E3B-5FF9-5F4D-84FE-95AC65547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1: VPC Setup</a:t>
            </a:r>
          </a:p>
          <a:p>
            <a:r>
              <a:rPr lang="en-GB" dirty="0"/>
              <a:t>Create VPC (10.0.0.0/16), define public and private subnets across two availability zones, attach Internet Gateway to public subnet.</a:t>
            </a:r>
          </a:p>
          <a:p>
            <a:r>
              <a:rPr lang="en-GB" b="1" dirty="0"/>
              <a:t>Step 2: EC2 Instance Launch</a:t>
            </a:r>
          </a:p>
          <a:p>
            <a:r>
              <a:rPr lang="en-GB" dirty="0"/>
              <a:t>Launch two EC2 instances (t2.micro, Amazon Linux 2) in private subnets. Run Apache web server via user-data script. Assign unique identifiers to each instance response page.</a:t>
            </a:r>
          </a:p>
          <a:p>
            <a:r>
              <a:rPr lang="en-GB" b="1" dirty="0"/>
              <a:t>Step 3: Load Balancer Configuration</a:t>
            </a:r>
          </a:p>
          <a:p>
            <a:r>
              <a:rPr lang="en-GB" dirty="0"/>
              <a:t>Create Application Load Balancer in public subnet. Define Target Group with both EC2 instances. Configure listener on port 80 (HTTP). Set health check path to /index.html.</a:t>
            </a:r>
          </a:p>
          <a:p>
            <a:r>
              <a:rPr lang="en-GB" b="1" dirty="0"/>
              <a:t>Step 4: Security Group Rules</a:t>
            </a:r>
          </a:p>
          <a:p>
            <a:r>
              <a:rPr lang="en-GB" dirty="0"/>
              <a:t>ALB SG: Allow inbound port 80 from 0.0.0.0/0. EC2 SG: Allow inbound port 80 only from ALB security group — no direct public access.</a:t>
            </a:r>
          </a:p>
        </p:txBody>
      </p:sp>
    </p:spTree>
    <p:extLst>
      <p:ext uri="{BB962C8B-B14F-4D97-AF65-F5344CB8AC3E}">
        <p14:creationId xmlns:p14="http://schemas.microsoft.com/office/powerpoint/2010/main" val="1369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725F-24CD-84F0-FEDF-FDBE42CC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257550" cy="1325563"/>
          </a:xfrm>
        </p:spPr>
        <p:txBody>
          <a:bodyPr/>
          <a:lstStyle/>
          <a:p>
            <a:r>
              <a:rPr lang="en-US" b="1" dirty="0"/>
              <a:t>Implementation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EECF7-9784-D67B-6B82-4A0C1F8DE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VPC and Subnet Configuration</a:t>
            </a:r>
          </a:p>
          <a:p>
            <a:r>
              <a:rPr lang="en-GB" dirty="0"/>
              <a:t>Created VPC with CIDR 10.0.0.0/16. Configured three subnets: one public (10.0.1.0/24) for ALB and two private (10.0.2.0/24, 10.0.3.0/24) for EC2 instances across AZ-1 and AZ-2.</a:t>
            </a:r>
          </a:p>
          <a:p>
            <a:r>
              <a:rPr lang="en-GB" b="1" dirty="0"/>
              <a:t>Load Balancer and Target Group</a:t>
            </a:r>
          </a:p>
          <a:p>
            <a:r>
              <a:rPr lang="en-GB" dirty="0"/>
              <a:t>ALB deployed in public subnet. Target group registered both EC2 instances. HTTP listener on port 80 forwards to the target group using round-robin distribution.</a:t>
            </a:r>
          </a:p>
          <a:p>
            <a:r>
              <a:rPr lang="en-GB" b="1" dirty="0"/>
              <a:t>Key Features Demonstrated</a:t>
            </a:r>
          </a:p>
          <a:p>
            <a:r>
              <a:rPr lang="en-GB" dirty="0"/>
              <a:t>Traffic alternates between Instance A and Instance B on page refresh. Health check auto-removes unhealthy instances. Private instances inaccessible directly from internet.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876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B3A1-3256-2FAF-BEF3-8863A902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Results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E5A7-C908-4F00-1A0E-FF44E4263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Observed Outputs</a:t>
            </a:r>
          </a:p>
          <a:p>
            <a:r>
              <a:rPr lang="en-GB" dirty="0"/>
              <a:t>Browser request to ALB DNS endpoint successfully served alternating responses from EC2 Instance A and Instance B, confirming round-robin load distribution.</a:t>
            </a:r>
          </a:p>
          <a:p>
            <a:r>
              <a:rPr lang="en-GB" b="1" dirty="0"/>
              <a:t>Health Check Validation</a:t>
            </a:r>
          </a:p>
          <a:p>
            <a:r>
              <a:rPr lang="en-GB" dirty="0"/>
              <a:t>Both targets showed Healthy status in ALB console. Stopping Apache on one instance caused ALB to auto-route all traffic to the remaining healthy instance.</a:t>
            </a:r>
          </a:p>
          <a:p>
            <a:r>
              <a:rPr lang="en-GB" b="1" dirty="0"/>
              <a:t>Security Validation</a:t>
            </a:r>
          </a:p>
          <a:p>
            <a:r>
              <a:rPr lang="en-GB" dirty="0"/>
              <a:t>Direct access to EC2 private IP timed out from browser. Only ALB DNS endpoint was publicly reachable, confirming correct security group isolation.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9807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6F04-1ACA-C4CE-E608-619ECB13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105150" cy="1325563"/>
          </a:xfrm>
        </p:spPr>
        <p:txBody>
          <a:bodyPr/>
          <a:lstStyle/>
          <a:p>
            <a:r>
              <a:rPr lang="en-GB" b="1" dirty="0"/>
              <a:t>Advantages &amp; Limitations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12E21-C287-4EEC-5669-35A7AD07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Advantages:</a:t>
            </a:r>
            <a:endParaRPr lang="en-GB" dirty="0"/>
          </a:p>
          <a:p>
            <a:r>
              <a:rPr lang="en-GB" dirty="0"/>
              <a:t>Improved Security: Private instances hidden from internet; only ALB is publicly exposed</a:t>
            </a:r>
          </a:p>
          <a:p>
            <a:r>
              <a:rPr lang="en-GB" dirty="0"/>
              <a:t>High Availability: Traffic auto-reroutes to healthy instances on failure</a:t>
            </a:r>
          </a:p>
          <a:p>
            <a:r>
              <a:rPr lang="en-GB" dirty="0"/>
              <a:t>Scalable: Additional EC2 instances can be added to the target group without downtime</a:t>
            </a:r>
          </a:p>
          <a:p>
            <a:r>
              <a:rPr lang="en-GB" b="1" dirty="0"/>
              <a:t>Limitations:</a:t>
            </a:r>
            <a:endParaRPr lang="en-GB" dirty="0"/>
          </a:p>
          <a:p>
            <a:r>
              <a:rPr lang="en-GB" dirty="0"/>
              <a:t>Cost: NAT Gateway and ALB incur charges; not ideal for zero-budget learning environments</a:t>
            </a:r>
          </a:p>
          <a:p>
            <a:r>
              <a:rPr lang="en-GB" dirty="0"/>
              <a:t>Manual Setup: No auto-scaling configured; instance count must be managed manually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658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348A-E01A-81CA-0D50-EBF93F1A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495550" cy="1325563"/>
          </a:xfrm>
        </p:spPr>
        <p:txBody>
          <a:bodyPr/>
          <a:lstStyle/>
          <a:p>
            <a:r>
              <a:rPr lang="fr-FR" b="1" dirty="0"/>
              <a:t>Future Scope</a:t>
            </a:r>
            <a:br>
              <a:rPr lang="fr-FR" b="1" dirty="0"/>
            </a:br>
            <a:br>
              <a:rPr lang="fr-FR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5575-428B-9D53-6999-C0D7DDA07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Integrate Auto Scaling Groups to automatically add or remove EC2 instances based on CPU utilization thresholds</a:t>
            </a:r>
          </a:p>
          <a:p>
            <a:r>
              <a:rPr lang="en-GB" dirty="0"/>
              <a:t>Enable HTTPS using AWS Certificate Manager (ACM) with SSL termination at the ALB for secure communication</a:t>
            </a:r>
          </a:p>
          <a:p>
            <a:r>
              <a:rPr lang="en-GB" dirty="0"/>
              <a:t>Add Amazon RDS in a dedicated DB subnet with Multi-AZ failover for a complete 3-tier architecture</a:t>
            </a:r>
          </a:p>
          <a:p>
            <a:r>
              <a:rPr lang="en-GB" dirty="0"/>
              <a:t>Implement AWS CloudWatch monitoring with alarms and SNS notifications for real-time infrastructure health alerts</a:t>
            </a:r>
          </a:p>
          <a:p>
            <a:r>
              <a:rPr lang="en-GB" dirty="0"/>
              <a:t>Extend to a full hybrid cloud model by connecting the VPC to on-premise network using AWS Site-to-Site VPN</a:t>
            </a:r>
          </a:p>
        </p:txBody>
      </p:sp>
    </p:spTree>
    <p:extLst>
      <p:ext uri="{BB962C8B-B14F-4D97-AF65-F5344CB8AC3E}">
        <p14:creationId xmlns:p14="http://schemas.microsoft.com/office/powerpoint/2010/main" val="59073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1DBB-2BB7-4435-618B-912531C9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571750" cy="1325563"/>
          </a:xfrm>
        </p:spPr>
        <p:txBody>
          <a:bodyPr/>
          <a:lstStyle/>
          <a:p>
            <a:r>
              <a:rPr lang="en-GB" b="1" dirty="0"/>
              <a:t>Conclusion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3C83-E617-E1BF-87FE-AC2018B34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Project Summary</a:t>
            </a:r>
          </a:p>
          <a:p>
            <a:r>
              <a:rPr lang="en-GB" dirty="0"/>
              <a:t>This micro project successfully designed and deployed a VPC-based mini cloud architecture with an Application Load Balancer distributing traffic across two private EC2 instances in separate availability zones.</a:t>
            </a:r>
          </a:p>
          <a:p>
            <a:r>
              <a:rPr lang="en-GB" b="1" dirty="0"/>
              <a:t>Key Takeaways</a:t>
            </a:r>
          </a:p>
          <a:p>
            <a:r>
              <a:rPr lang="en-GB" dirty="0"/>
              <a:t>VPC segmentation is fundamental to secure cloud deployments — separating public-facing and internal resources reduces the attack surface significantly.</a:t>
            </a:r>
          </a:p>
          <a:p>
            <a:r>
              <a:rPr lang="en-GB" dirty="0"/>
              <a:t>Load balancing is essential for building fault-tolerant applications. The ALB automatically handled instance failover without any manual intervention.</a:t>
            </a:r>
          </a:p>
          <a:p>
            <a:r>
              <a:rPr lang="en-GB" b="1" dirty="0"/>
              <a:t>Final Outcome</a:t>
            </a:r>
          </a:p>
          <a:p>
            <a:r>
              <a:rPr lang="en-GB" dirty="0"/>
              <a:t>A working, secure, and highly available 2-tier cloud architecture was implemented, demonstrating real-world hybrid cloud design principles from course 6IT1284.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3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8CFE-0C0D-1D2E-0E2F-95104599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76550" cy="1325563"/>
          </a:xfrm>
        </p:spPr>
        <p:txBody>
          <a:bodyPr/>
          <a:lstStyle/>
          <a:p>
            <a:r>
              <a:rPr lang="en-GB" b="1" dirty="0"/>
              <a:t>References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1AC5-B62A-4DC0-7A44-E6D99FD62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Books</a:t>
            </a:r>
          </a:p>
          <a:p>
            <a:r>
              <a:rPr lang="en-GB" dirty="0"/>
              <a:t>Arundel, J. &amp; Domingus, J. (2019). Cloud Native DevOps with Kubernetes. O’Reilly Media.</a:t>
            </a:r>
          </a:p>
          <a:p>
            <a:r>
              <a:rPr lang="en-GB" dirty="0"/>
              <a:t>Linthicum, D. (2017). Cloud Computing and SOA Convergence in Your Enterprise. Addison-Wesley.</a:t>
            </a:r>
          </a:p>
          <a:p>
            <a:r>
              <a:rPr lang="en-GB" b="1" dirty="0"/>
              <a:t>AWS Documentation</a:t>
            </a:r>
          </a:p>
          <a:p>
            <a:r>
              <a:rPr lang="en-GB" dirty="0"/>
              <a:t>AWS VPC User Guide: https://docs.aws.amazon.com/vpc/latest/userguide</a:t>
            </a:r>
          </a:p>
          <a:p>
            <a:r>
              <a:rPr lang="en-GB" dirty="0"/>
              <a:t>AWS Elastic Load Balancing: https://docs.aws.amazon.com/elasticloadbalancing</a:t>
            </a:r>
          </a:p>
          <a:p>
            <a:r>
              <a:rPr lang="en-GB" b="1" dirty="0"/>
              <a:t>Tools Used</a:t>
            </a:r>
          </a:p>
          <a:p>
            <a:r>
              <a:rPr lang="en-GB" dirty="0"/>
              <a:t>AWS Management Console | draw.io | PuTTY | Wireshark | Amazon Linux 2 | Apache HTTP Server</a:t>
            </a:r>
          </a:p>
        </p:txBody>
      </p:sp>
    </p:spTree>
    <p:extLst>
      <p:ext uri="{BB962C8B-B14F-4D97-AF65-F5344CB8AC3E}">
        <p14:creationId xmlns:p14="http://schemas.microsoft.com/office/powerpoint/2010/main" val="2422679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985E-5A94-8D3A-9742-70AC0862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486150" cy="1325563"/>
          </a:xfrm>
        </p:spPr>
        <p:txBody>
          <a:bodyPr/>
          <a:lstStyle/>
          <a:p>
            <a:r>
              <a:rPr lang="en-GB" b="1" dirty="0"/>
              <a:t>Thank You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72F9D-9645-88FD-82A0-BF1F4008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“Thank You” </a:t>
            </a:r>
          </a:p>
          <a:p>
            <a:r>
              <a:rPr lang="en-GB" dirty="0"/>
              <a:t>“Any Questions?”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9027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1686</TotalTime>
  <Words>1195</Words>
  <Application>Microsoft Macintosh PowerPoint</Application>
  <PresentationFormat>On-screen Show 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1_Office Theme</vt:lpstr>
      <vt:lpstr>VPC and Load Balancing Mini Architecture </vt:lpstr>
      <vt:lpstr>Introduction </vt:lpstr>
      <vt:lpstr>Objectives </vt:lpstr>
      <vt:lpstr>Problem Statement  </vt:lpstr>
      <vt:lpstr>Proposed Solution  </vt:lpstr>
      <vt:lpstr>Technologies Used  </vt:lpstr>
      <vt:lpstr>System Architecture  </vt:lpstr>
      <vt:lpstr>Methodology / Working  </vt:lpstr>
      <vt:lpstr>Implementation </vt:lpstr>
      <vt:lpstr>Results </vt:lpstr>
      <vt:lpstr>Advantages &amp; Limitations </vt:lpstr>
      <vt:lpstr>Future Scope  </vt:lpstr>
      <vt:lpstr>Conclusion </vt:lpstr>
      <vt:lpstr>References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Algorithms - FCFS (First Come First Serve) - SJF (Shortest Job First)</dc:title>
  <dc:creator>krishnan</dc:creator>
  <cp:lastModifiedBy>MANISH</cp:lastModifiedBy>
  <cp:revision>482</cp:revision>
  <dcterms:created xsi:type="dcterms:W3CDTF">2006-08-16T00:00:00Z</dcterms:created>
  <dcterms:modified xsi:type="dcterms:W3CDTF">2026-04-06T04:05:18Z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CFF747AF3BB64A09A0D013FEB7A3C1E4_12</vt:lpwstr>
  </property>
  <property fmtid="{D5CDD505-2E9C-101B-9397-08002B2CF9AE}" pid="3" name="KSOProductBuildVer">
    <vt:lpwstr>2057-12.2.0.23196</vt:lpwstr>
  </property>
</Properties>
</file>